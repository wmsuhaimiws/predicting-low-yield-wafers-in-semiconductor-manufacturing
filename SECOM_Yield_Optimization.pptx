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1"/>
                </a:solidFill>
                <a:latin typeface="Cambria"/>
              </a:defRPr>
            </a:pPr>
            <a:r>
              <a:rPr lang="en-MY" sz="1400" b="0" i="0" u="none" strike="noStrike">
                <a:solidFill>
                  <a:srgbClr val="1B2631"/>
                </a:solidFill>
                <a:latin typeface="Cambria"/>
              </a:rPr>
              <a:t>Class balance  (~14:1 imbalance)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wafers</c:v>
                </c:pt>
              </c:strCache>
            </c:strRef>
          </c:tx>
          <c:spPr>
            <a:solidFill>
              <a:srgbClr val="5D6D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2B-4340-AF02-389E4A295739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2B-4340-AF02-389E4A2957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63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1463</c:v>
                </c:pt>
                <c:pt idx="1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2B-4340-AF02-389E4A2957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4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yield is the dominant cost lever in high-volume packaging &amp; test. This project turns 590 anonymous fab sensors into a short, actionable watch-list, and demonstrates the full data-management workflow across four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Malaysia is the 6th-largest semiconductor exporter and handles ~13% of global OSAT (packaging/assembly/test) — the exact back-end stage SECOM comes from. A single yield point is worth millions, which is why this is a genuinely high-impact data-science question. Sources are cited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defects drive the whole methodology: missing values (~42k), near-constant sensors (~347), and a severe 14:1 imbalance. Note the honesty slide-line — stating limitations up front is part of the grade and good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top lane left-to-right: acquire, clean, EDA, model, evaluate, then insights and recommendations flowing back to the yield/cost outcome. The gold lane at the bottom is the big-data engineering path we demonstrate in three separate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leakage-safety: scaling and SMOTE live inside the pipeline and are fit on the training fold only. And we never delete a failure row — with only 104, every one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makes the 14:1 imbalance visceral with the real counts. Then the three takeaways reframe the task as rare-event detection and point to the vital-few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mindset shift: under 14:1 imbalance, accuracy is meaningless. We select on PR-AUC and fail-recall, and expose the decision threshold as the knob a fab actually turns — miss vs false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insight links a data finding to a fab consequence. The associational caveat matters: high-importance sensors are leads to investigate, confirmed by a designed experiment — not proven root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 — SPC on the vital few is the cheapest win. Frame the model as decision-support that prioritises engineering attention, not an automatic reject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per-sensor + pass/fail aggregation is expressed in Pig, Hive (Spark SQL and real Hadoop+Hive), and DuckDB. The point isn't any single tool — it's demonstrating deliberate engine selection across the volume/infrastructure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one-liner, then the four proof points. Close by inviting questions and offering to open any of the four notebooks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SECOM Yield Optimization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49808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low-yield wafers in semiconductor manufacturing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 ·  Smart-Factory Yield  ·  Semiconductor Packaging &amp;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343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43545"/>
          </a:solidFill>
          <a:ln w="12700">
            <a:solidFill>
              <a:srgbClr val="324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1,567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4343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43545"/>
          </a:solidFill>
          <a:ln w="12700">
            <a:solidFill>
              <a:srgbClr val="3247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5074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4343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43545"/>
          </a:solidFill>
          <a:ln w="12700">
            <a:solidFill>
              <a:srgbClr val="324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~14:1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5074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: fail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61120" y="4343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43545"/>
          </a:solidFill>
          <a:ln w="12700">
            <a:solidFill>
              <a:srgbClr val="324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61120" y="5074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notebooks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87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&amp; Analytics  —  Final Data Management Project  ·  Suhaimi ·  P165962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— and why it matters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packaging &amp; test is a high-value, high-demand domain, and central to Malaysia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06440" cy="4480560"/>
          </a:xfrm>
          <a:prstGeom prst="roundRect">
            <a:avLst>
              <a:gd name="adj" fmla="val 1837"/>
            </a:avLst>
          </a:prstGeom>
          <a:solidFill>
            <a:srgbClr val="F4F6F7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 signals predict low-yield (fail) wafers, and how can the fab use them to raise yield and cut per-unit cost?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wafer passes hundreds of monitored process steps.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wafer is lost yield and wasted cost.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anonymized, so we deliver ranked sensor IDs as engineering leads.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0" y="15544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6th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693408" y="24231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chip exporter (Malaysia)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81160" y="15544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281160" y="1737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~13%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9390888" y="24231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packaging &amp; 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8404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023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US$130B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6693408" y="47091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exports,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1160" y="38404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1160" y="4023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390888" y="47091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sales from Penang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— UCI SECOM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wafer-fab process data; the defects are exactly what a data-management project must handle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1,567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46888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wafers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590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453128" y="246888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sensors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247888" y="246888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vs 1,463 passes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66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~41,951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58368" y="42519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3566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~347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4453128" y="42519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near-constant sensors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3566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 / +1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8247888" y="42519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label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limitations: features are anonymized (we report sensor IDs, not step names), only 104 failures cap achievable precision, and the AI4I add-on is synthetic and kept secondary.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data-management pipeline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problem to data to cleaning to modelling to insights — plus a fab-scale big-data lane</a:t>
            </a:r>
            <a:endParaRPr lang="en-US" sz="1350" dirty="0"/>
          </a:p>
        </p:txBody>
      </p:sp>
      <p:pic>
        <p:nvPicPr>
          <p:cNvPr id="4" name="Image 0" descr="/tmp/deck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1417320"/>
            <a:ext cx="11064240" cy="6000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preprocessing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order, with a written justification and before/after audit for every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00784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&gt;50%-missing sensors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568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impute more than half a column honestly.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7040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560320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0545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imputation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8163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the skew and spikes of sensor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7040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419856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36499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near-constant sensors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67588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discriminative power; only add noise.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33088"/>
            <a:ext cx="7040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279392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2245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Winsorize outliers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53542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Clip, never delete — failures are precious.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92624"/>
            <a:ext cx="7040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5138928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08406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+ SMOTE in-pipeline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394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the training fold only (no leakage).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63840" y="1554480"/>
            <a:ext cx="3776472" cy="4279392"/>
          </a:xfrm>
          <a:prstGeom prst="roundRect">
            <a:avLst>
              <a:gd name="adj" fmla="val 2179"/>
            </a:avLst>
          </a:prstGeom>
          <a:solidFill>
            <a:srgbClr val="EAF2F8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 →  After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0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590  →  ~410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46720" y="3172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cells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3447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~41,951  →  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46720" y="40142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rows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4288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 →  104 (kept all)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46720" y="4855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51297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handled via weights / SMOTE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Six-plus deliberate charts; red always means fail / risk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783080"/>
            <a:ext cx="5715000" cy="1207008"/>
          </a:xfrm>
          <a:prstGeom prst="roundRect">
            <a:avLst>
              <a:gd name="adj" fmla="val 6818"/>
            </a:avLst>
          </a:prstGeom>
          <a:solidFill>
            <a:srgbClr val="F4F6F7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19110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a trap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172200" y="2258568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'predict pass' model scores ~93% and catches zero failures — we optimise recall / PR-AUC.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3154680"/>
            <a:ext cx="5715000" cy="1207008"/>
          </a:xfrm>
          <a:prstGeom prst="roundRect">
            <a:avLst>
              <a:gd name="adj" fmla="val 6818"/>
            </a:avLst>
          </a:prstGeom>
          <a:solidFill>
            <a:srgbClr val="F4F6F7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32826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is concentrated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172200" y="3630168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vital few sensor IDs carry most predictive power (yield Pareto).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4526280"/>
            <a:ext cx="5715000" cy="1207008"/>
          </a:xfrm>
          <a:prstGeom prst="roundRect">
            <a:avLst>
              <a:gd name="adj" fmla="val 6818"/>
            </a:avLst>
          </a:prstGeom>
          <a:solidFill>
            <a:srgbClr val="F4F6F7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46542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Missingness is structural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172200" y="5001768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clusters in specific sensors offline for a period — a fixable data-quality gap.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Imbalance-aware modelling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catching the rare failure — not headline accuracy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5D6D7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0939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75/25 hold-out keeps the 14:1 ratio in both splits.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984248"/>
            <a:ext cx="457200" cy="457200"/>
          </a:xfrm>
          <a:prstGeom prst="ellipse">
            <a:avLst/>
          </a:prstGeom>
          <a:solidFill>
            <a:srgbClr val="5D6D7E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7465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remedies compared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20939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class weights vs SMOTE, head-to-head.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5D6D7E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163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5112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(interpretable) and Random Forest (interactions).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401568"/>
            <a:ext cx="457200" cy="457200"/>
          </a:xfrm>
          <a:prstGeom prst="ellipse">
            <a:avLst/>
          </a:prstGeom>
          <a:solidFill>
            <a:srgbClr val="5D6D7E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163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metrics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5112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precision, F1 and PR-AUC for the fail class — never accuracy.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818888"/>
            <a:ext cx="457200" cy="457200"/>
          </a:xfrm>
          <a:prstGeom prst="ellipse">
            <a:avLst/>
          </a:prstGeom>
          <a:solidFill>
            <a:srgbClr val="5D6D7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5811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49286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fail-recall within a false-alarm budget.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818888"/>
            <a:ext cx="457200" cy="457200"/>
          </a:xfrm>
          <a:prstGeom prst="ellipse">
            <a:avLst/>
          </a:prstGeom>
          <a:solidFill>
            <a:srgbClr val="5D6D7E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40880" y="45811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Leads, not black box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40880" y="49286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to ranked sensor IDs + a yield Pareto.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— the 'why', not just the 'what'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findings tied back to semiconductor context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DEDEC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Rare-event detection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~14:1 imbalance the task is catching a rare event; the whole method follows from that.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AF2F8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01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vital few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35000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590 sensors, a small minority carry the signal — exactly SECOM's documented feature-selection use.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DEDEC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50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 multivariate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sensors overlap heavily; no single red line works, so monitor a small set together.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AF2F8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950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missingness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449884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mean sensors were offline — an instrumentation fix, not random noise.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fab team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Realistic, finding-supported, highest-leverage first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0992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550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a 'vital-few' SPC watch-list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0" y="165506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control on the top sensor IDs — the cheapest yield win.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55117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recall-tuned early-warning screen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66560" y="255117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 wafers for review; keep an engineer in the loop, don't auto-scrap.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0215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44728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offline-sensor instrumentation gaps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766560" y="344728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structural missingness as a data-quality maintenance ticket.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42816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39826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3434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leads with designed experiments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66560" y="43434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top sensors into a DOE before changing recipes — importance is associational.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29437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23951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on a rolling cadence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66560" y="523951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drift; use active learning to grow the scarce failure set.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Big-data engineering — one job, four engines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engine by data volume and infrastructure is the data-management skill on show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Engine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Reach for it when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 this project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/ scikit-learn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in RAM; iterative analysis &amp;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secom_yield_analysis.ipynb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than pandas, want fast SQL, zero infra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 + DuckDB notebook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 (via Spark SQL)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Partitioned TB-scale tables; BI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 + Hive/Spark notebook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Pig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procedural ETL dataflows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 local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Hadoop + Hive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authentic warehouse 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+ Hive notebook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prototype &amp; model in pandas; push recurring full-history aggregation down to the cluster (Hive/Pig) and pull back a small, query-ready extract.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725912" cy="1645920"/>
          </a:xfrm>
          <a:prstGeom prst="roundRect">
            <a:avLst>
              <a:gd name="adj" fmla="val 4444"/>
            </a:avLst>
          </a:prstGeom>
          <a:solidFill>
            <a:srgbClr val="243545"/>
          </a:solidFill>
          <a:ln w="12700">
            <a:solidFill>
              <a:srgbClr val="3247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148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optimising for accuracy and stop monitoring all 590 signals equally. Catch the rare failure, watch the vital few — and the data pipeline becomes a durable lever on yield and per-unit cost.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858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Honest, leakage-safe pipeline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42153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→ imbalance-aware modelling → recall-focused evaluation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931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3858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Vital-few sensor IDs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0" y="42153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engineering leads + a yield Pareto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956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working engines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71600" y="5312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DuckDB · Hive/Spark · Pig + real Hadoop+Hive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5029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4956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GitHub-ready pack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0" y="5312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/src, /docs, /notebooks, diagram, reproducible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87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Suhaimi ·  P165962  ·  MSc Data Science &amp; Analytics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1422</Words>
  <Application>Microsoft Office PowerPoint</Application>
  <PresentationFormat>Custom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Suhaimi</dc:creator>
  <cp:lastModifiedBy>WM Suhaimi W Suliman</cp:lastModifiedBy>
  <cp:revision>2</cp:revision>
  <dcterms:created xsi:type="dcterms:W3CDTF">2026-07-01T04:57:39Z</dcterms:created>
  <dcterms:modified xsi:type="dcterms:W3CDTF">2026-07-01T06:43:59Z</dcterms:modified>
</cp:coreProperties>
</file>